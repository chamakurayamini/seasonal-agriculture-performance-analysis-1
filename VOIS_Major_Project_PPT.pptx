
<file path=[Content_Types].xml><?xml version="1.0" encoding="utf-8"?>
<Types xmlns="http://schemas.openxmlformats.org/package/2006/content-types">
  <Default Extension="jfif" ContentType="image/jpeg"/>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varScale="1">
        <p:scale>
          <a:sx n="77" d="100"/>
          <a:sy n="77" d="100"/>
        </p:scale>
        <p:origin x="164" y="56"/>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9/13/2026</a:t>
            </a:fld>
            <a:endParaRPr lang="en-US" dirty="0"/>
          </a:p>
        </p:txBody>
      </p:sp>
      <p:sp>
        <p:nvSpPr>
          <p:cNvPr id="4" name="Footer Placeholder 3">
            <a:extLst>
              <a:ext uri="{FF2B5EF4-FFF2-40B4-BE49-F238E27FC236}">
                <a16:creationId xmlns=""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9/13/2026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9/13/2026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9/13/2026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9/13/2026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9/13/2026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9/13/2026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9/13/2026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9/13/2026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9/13/2026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9/13/2026</a:t>
            </a:fld>
            <a:endParaRPr lang="en-US" sz="1100" dirty="0">
              <a:solidFill>
                <a:schemeClr val="accent2"/>
              </a:solidFill>
            </a:endParaRPr>
          </a:p>
        </p:txBody>
      </p:sp>
      <p:sp>
        <p:nvSpPr>
          <p:cNvPr id="29" name="Footer Placeholder 4">
            <a:extLst>
              <a:ext uri="{FF2B5EF4-FFF2-40B4-BE49-F238E27FC236}">
                <a16:creationId xmlns=""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jfif"/><Relationship Id="rId1" Type="http://schemas.openxmlformats.org/officeDocument/2006/relationships/slideLayout" Target="../slideLayouts/slideLayout19.xml"/><Relationship Id="rId5" Type="http://schemas.openxmlformats.org/officeDocument/2006/relationships/image" Target="../media/image14.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chamakurayamini/Seasonal-Agriculture-Performance-Analysis-1.git" TargetMode="External"/><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 xmlns:a16="http://schemas.microsoft.com/office/drawing/2014/main" id="{7201737A-B873-4D1D-8A41-5ABF5184BC8F}"/>
              </a:ext>
            </a:extLst>
          </p:cNvPr>
          <p:cNvSpPr>
            <a:spLocks noGrp="1"/>
          </p:cNvSpPr>
          <p:nvPr>
            <p:ph type="body" sz="quarter" idx="11"/>
          </p:nvPr>
        </p:nvSpPr>
        <p:spPr>
          <a:xfrm>
            <a:off x="4324129" y="4154063"/>
            <a:ext cx="6039071" cy="861497"/>
          </a:xfrm>
        </p:spPr>
        <p:txBody>
          <a:bodyPr vert="horz" lIns="91440" tIns="45720" rIns="91440" bIns="45720" rtlCol="0" anchor="t">
            <a:normAutofit/>
          </a:bodyPr>
          <a:lstStyle/>
          <a:p>
            <a:pPr algn="r"/>
            <a:r>
              <a:rPr lang="en-US" b="0" dirty="0" smtClean="0">
                <a:solidFill>
                  <a:schemeClr val="tx1"/>
                </a:solidFill>
              </a:rPr>
              <a:t>Chamakura Yamini </a:t>
            </a:r>
            <a:endParaRPr lang="en-IN" b="0" dirty="0">
              <a:solidFill>
                <a:schemeClr val="tx1"/>
              </a:solidFill>
            </a:endParaRPr>
          </a:p>
          <a:p>
            <a:pPr algn="r"/>
            <a:r>
              <a:rPr lang="en-US" b="0" dirty="0" smtClean="0">
                <a:solidFill>
                  <a:schemeClr val="tx1"/>
                </a:solidFill>
              </a:rPr>
              <a:t>                                        Ace Engineering College </a:t>
            </a:r>
            <a:endParaRPr lang="en-IN" b="0" dirty="0">
              <a:solidFill>
                <a:schemeClr val="tx1"/>
              </a:solidFill>
            </a:endParaRPr>
          </a:p>
        </p:txBody>
      </p:sp>
      <p:sp>
        <p:nvSpPr>
          <p:cNvPr id="4" name="Title 3">
            <a:extLst>
              <a:ext uri="{FF2B5EF4-FFF2-40B4-BE49-F238E27FC236}">
                <a16:creationId xmlns="" xmlns:a16="http://schemas.microsoft.com/office/drawing/2014/main" id="{92056599-CDAA-4367-BEF8-31D6E32518C8}"/>
              </a:ext>
            </a:extLst>
          </p:cNvPr>
          <p:cNvSpPr>
            <a:spLocks noGrp="1"/>
          </p:cNvSpPr>
          <p:nvPr>
            <p:ph type="title"/>
          </p:nvPr>
        </p:nvSpPr>
        <p:spPr>
          <a:xfrm>
            <a:off x="65903" y="2815753"/>
            <a:ext cx="10297297" cy="743448"/>
          </a:xfrm>
        </p:spPr>
        <p:txBody>
          <a:bodyPr>
            <a:normAutofit/>
          </a:bodyPr>
          <a:lstStyle/>
          <a:p>
            <a:r>
              <a:rPr lang="en-IN" sz="3200" b="1" dirty="0" smtClean="0"/>
              <a:t>Seasonal </a:t>
            </a:r>
            <a:r>
              <a:rPr lang="en-IN" sz="3200" b="1" dirty="0"/>
              <a:t>Agriculture Performance Analysis </a:t>
            </a:r>
          </a:p>
        </p:txBody>
      </p:sp>
      <p:sp>
        <p:nvSpPr>
          <p:cNvPr id="15" name="Text Placeholder 1">
            <a:extLst>
              <a:ext uri="{FF2B5EF4-FFF2-40B4-BE49-F238E27FC236}">
                <a16:creationId xmlns=""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 xmlns:a16="http://schemas.microsoft.com/office/drawing/2014/main" id="{17F04107-8754-E47D-3375-529E689711FA}"/>
              </a:ext>
            </a:extLst>
          </p:cNvPr>
          <p:cNvSpPr txBox="1"/>
          <p:nvPr/>
        </p:nvSpPr>
        <p:spPr>
          <a:xfrm>
            <a:off x="6334898" y="5144793"/>
            <a:ext cx="5239572" cy="369332"/>
          </a:xfrm>
          <a:prstGeom prst="rect">
            <a:avLst/>
          </a:prstGeom>
          <a:noFill/>
        </p:spPr>
        <p:txBody>
          <a:bodyPr wrap="square" rtlCol="0">
            <a:spAutoFit/>
          </a:bodyPr>
          <a:lstStyle/>
          <a:p>
            <a:r>
              <a:rPr lang="en-US" b="1" dirty="0"/>
              <a:t>AICTE STU ID : </a:t>
            </a:r>
            <a:r>
              <a:rPr lang="en-US" b="1" dirty="0" smtClean="0"/>
              <a:t>STU6a6a06382be941785333304</a:t>
            </a:r>
            <a:endParaRPr lang="en-US" b="1" dirty="0"/>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 xmlns:a16="http://schemas.microsoft.com/office/drawing/2014/main" id="{E46E4DD1-270B-4C80-AFF0-EB26F132AF36}"/>
              </a:ext>
            </a:extLst>
          </p:cNvPr>
          <p:cNvSpPr>
            <a:spLocks noGrp="1"/>
          </p:cNvSpPr>
          <p:nvPr>
            <p:ph type="body" sz="quarter" idx="12"/>
          </p:nvPr>
        </p:nvSpPr>
        <p:spPr>
          <a:xfrm>
            <a:off x="1046480" y="1565190"/>
            <a:ext cx="6431280" cy="4563762"/>
          </a:xfrm>
        </p:spPr>
        <p:txBody>
          <a:bodyPr vert="horz" lIns="91440" tIns="45720" rIns="91440" bIns="45720" rtlCol="0" anchor="t">
            <a:normAutofit/>
          </a:bodyPr>
          <a:lstStyle/>
          <a:p>
            <a:pPr>
              <a:lnSpc>
                <a:spcPct val="150000"/>
              </a:lnSpc>
            </a:pPr>
            <a:r>
              <a:rPr lang="en-US" sz="1600" dirty="0"/>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 </a:t>
            </a:r>
            <a:endParaRPr lang="en-IN" sz="1600" dirty="0"/>
          </a:p>
        </p:txBody>
      </p:sp>
      <p:sp>
        <p:nvSpPr>
          <p:cNvPr id="4" name="Title 3">
            <a:extLst>
              <a:ext uri="{FF2B5EF4-FFF2-40B4-BE49-F238E27FC236}">
                <a16:creationId xmlns=""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 xmlns:a16="http://schemas.microsoft.com/office/drawing/2014/main" id="{EBF2FBC7-3552-4F01-BB27-8BEEE74F7277}"/>
              </a:ext>
            </a:extLst>
          </p:cNvPr>
          <p:cNvSpPr>
            <a:spLocks noGrp="1"/>
          </p:cNvSpPr>
          <p:nvPr>
            <p:ph type="title"/>
          </p:nvPr>
        </p:nvSpPr>
        <p:spPr>
          <a:xfrm>
            <a:off x="660399" y="805213"/>
            <a:ext cx="6276109" cy="830997"/>
          </a:xfrm>
        </p:spPr>
        <p:txBody>
          <a:bodyPr>
            <a:normAutofit fontScale="90000"/>
          </a:bodyPr>
          <a:lstStyle/>
          <a:p>
            <a:pPr>
              <a:lnSpc>
                <a:spcPct val="200000"/>
              </a:lnSpc>
            </a:pPr>
            <a:r>
              <a:rPr lang="en-GB" sz="3600" dirty="0"/>
              <a:t>Project Description</a:t>
            </a:r>
            <a:br>
              <a:rPr lang="en-GB" sz="3600" dirty="0"/>
            </a:br>
            <a:r>
              <a:rPr lang="en-GB" sz="3600" dirty="0"/>
              <a:t>​</a:t>
            </a:r>
            <a:r>
              <a:rPr lang="en-GB" sz="1600" dirty="0">
                <a:latin typeface="Arial Black" panose="020B0A04020102020204" pitchFamily="34" charset="0"/>
              </a:rPr>
              <a:t>Overview:</a:t>
            </a:r>
            <a:r>
              <a:rPr lang="en-GB" sz="1600" dirty="0"/>
              <a:t> Detailed Exploratory Data Analysis (EDA) of 4,000 agricultural records across multiple Indian states and crop types.  </a:t>
            </a:r>
            <a:br>
              <a:rPr lang="en-GB" sz="1600" dirty="0"/>
            </a:br>
            <a:r>
              <a:rPr lang="en-GB" sz="1600" dirty="0">
                <a:latin typeface="Arial Black" panose="020B0A04020102020204" pitchFamily="34" charset="0"/>
              </a:rPr>
              <a:t>​Analytical Focus: </a:t>
            </a:r>
            <a:r>
              <a:rPr lang="en-GB" sz="1600" dirty="0"/>
              <a:t>Evaluates the interaction between environmental metrics (rainfall, temperature, humidity, soil moisture), agricultural inputs (fertilizer, pesticide, seed quality, irrigation), and seasonal outputs (yield, production, market prices, net profit).  </a:t>
            </a:r>
            <a:br>
              <a:rPr lang="en-GB" sz="1600" dirty="0"/>
            </a:br>
            <a:r>
              <a:rPr lang="en-GB" sz="1600" dirty="0"/>
              <a:t>​</a:t>
            </a:r>
            <a:r>
              <a:rPr lang="en-GB" sz="1600" dirty="0">
                <a:latin typeface="Arial Black" panose="020B0A04020102020204" pitchFamily="34" charset="0"/>
              </a:rPr>
              <a:t>Methodology: </a:t>
            </a:r>
            <a:r>
              <a:rPr lang="en-GB" sz="1600" dirty="0"/>
              <a:t>Data cleaning, missing value handling, seasonal grouping, correlation analysis, and data visualization using Python.</a:t>
            </a:r>
            <a:endParaRPr lang="en-IN" sz="800" dirty="0"/>
          </a:p>
        </p:txBody>
      </p:sp>
      <p:pic>
        <p:nvPicPr>
          <p:cNvPr id="5" name="Picture 4">
            <a:extLst>
              <a:ext uri="{FF2B5EF4-FFF2-40B4-BE49-F238E27FC236}">
                <a16:creationId xmlns=""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 xmlns:a16="http://schemas.microsoft.com/office/drawing/2014/main" id="{664E3B60-2780-459A-8583-F095D5E7463A}"/>
              </a:ext>
            </a:extLst>
          </p:cNvPr>
          <p:cNvSpPr>
            <a:spLocks noGrp="1"/>
          </p:cNvSpPr>
          <p:nvPr>
            <p:ph type="body" sz="quarter" idx="12"/>
          </p:nvPr>
        </p:nvSpPr>
        <p:spPr>
          <a:xfrm>
            <a:off x="721359" y="1991360"/>
            <a:ext cx="7904481" cy="3990023"/>
          </a:xfrm>
        </p:spPr>
        <p:txBody>
          <a:bodyPr>
            <a:normAutofit fontScale="47500" lnSpcReduction="20000"/>
          </a:bodyPr>
          <a:lstStyle/>
          <a:p>
            <a:pPr marL="0" indent="0" algn="just">
              <a:lnSpc>
                <a:spcPct val="220000"/>
              </a:lnSpc>
              <a:buNone/>
            </a:pPr>
            <a:r>
              <a:rPr lang="en-US" sz="3600" dirty="0">
                <a:latin typeface="Arial Black" panose="020B0A04020102020204" pitchFamily="34" charset="0"/>
              </a:rPr>
              <a:t>Agricultural Policy Makers: </a:t>
            </a:r>
            <a:r>
              <a:rPr lang="en-US" sz="3600" dirty="0"/>
              <a:t>To design targeted seasonal subsidy programs and optimize regional water management schemes.  </a:t>
            </a:r>
          </a:p>
          <a:p>
            <a:pPr marL="0" indent="0" algn="just">
              <a:lnSpc>
                <a:spcPct val="220000"/>
              </a:lnSpc>
              <a:buNone/>
            </a:pPr>
            <a:r>
              <a:rPr lang="en-US" sz="3600" dirty="0"/>
              <a:t>​</a:t>
            </a:r>
            <a:r>
              <a:rPr lang="en-US" sz="3600" dirty="0">
                <a:latin typeface="Arial Black" panose="020B0A04020102020204" pitchFamily="34" charset="0"/>
              </a:rPr>
              <a:t>Farm Management Consultants &amp; Agronomists: </a:t>
            </a:r>
            <a:r>
              <a:rPr lang="en-US" sz="3600" dirty="0"/>
              <a:t>To advise farmers on high-yield crop selection and resource allocation per season.  </a:t>
            </a:r>
          </a:p>
          <a:p>
            <a:pPr marL="0" indent="0" algn="just">
              <a:lnSpc>
                <a:spcPct val="220000"/>
              </a:lnSpc>
              <a:buNone/>
            </a:pPr>
            <a:r>
              <a:rPr lang="en-US" sz="3600" dirty="0">
                <a:latin typeface="Arial Black" panose="020B0A04020102020204" pitchFamily="34" charset="0"/>
              </a:rPr>
              <a:t>​Agricultural Lenders &amp; Insurance Providers: </a:t>
            </a:r>
            <a:r>
              <a:rPr lang="en-US" sz="3600" dirty="0"/>
              <a:t>To evaluate seasonal financial risk profiles and pest risk variations for credit underwriting.</a:t>
            </a:r>
            <a:endParaRPr lang="en-IN" sz="3600" dirty="0"/>
          </a:p>
        </p:txBody>
      </p:sp>
      <p:sp>
        <p:nvSpPr>
          <p:cNvPr id="4" name="Title 3">
            <a:extLst>
              <a:ext uri="{FF2B5EF4-FFF2-40B4-BE49-F238E27FC236}">
                <a16:creationId xmlns=""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 xmlns:a16="http://schemas.microsoft.com/office/drawing/2014/main" id="{B21C28F5-3CA3-4B78-B5C9-550C00BB3174}"/>
              </a:ext>
            </a:extLst>
          </p:cNvPr>
          <p:cNvSpPr>
            <a:spLocks noGrp="1"/>
          </p:cNvSpPr>
          <p:nvPr>
            <p:ph type="body" sz="quarter" idx="12"/>
          </p:nvPr>
        </p:nvSpPr>
        <p:spPr>
          <a:xfrm>
            <a:off x="390618" y="1432560"/>
            <a:ext cx="9027702" cy="5243448"/>
          </a:xfrm>
        </p:spPr>
        <p:txBody>
          <a:bodyPr/>
          <a:lstStyle/>
          <a:p>
            <a:pPr lvl="1">
              <a:lnSpc>
                <a:spcPct val="150000"/>
              </a:lnSpc>
            </a:pPr>
            <a:r>
              <a:rPr lang="en-IN" dirty="0"/>
              <a:t>​Programming Language: Python 3.x  </a:t>
            </a:r>
          </a:p>
          <a:p>
            <a:pPr lvl="1">
              <a:lnSpc>
                <a:spcPct val="150000"/>
              </a:lnSpc>
            </a:pPr>
            <a:r>
              <a:rPr lang="en-IN" dirty="0"/>
              <a:t>​Data Manipulation &amp; Analysis: Pandas, NumPy  </a:t>
            </a:r>
          </a:p>
          <a:p>
            <a:pPr lvl="1">
              <a:lnSpc>
                <a:spcPct val="150000"/>
              </a:lnSpc>
            </a:pPr>
            <a:r>
              <a:rPr lang="en-IN" dirty="0"/>
              <a:t>​Data Visualization: Matplotlib, Seaborn  </a:t>
            </a:r>
          </a:p>
          <a:p>
            <a:pPr lvl="1">
              <a:lnSpc>
                <a:spcPct val="150000"/>
              </a:lnSpc>
            </a:pPr>
            <a:r>
              <a:rPr lang="en-IN" dirty="0"/>
              <a:t>​Development Environment: Jupyter Notebook / Google Colab  </a:t>
            </a:r>
          </a:p>
          <a:p>
            <a:pPr lvl="1">
              <a:lnSpc>
                <a:spcPct val="150000"/>
              </a:lnSpc>
            </a:pPr>
            <a:r>
              <a:rPr lang="en-IN" dirty="0"/>
              <a:t>​Version Control: Git &amp; </a:t>
            </a:r>
            <a:r>
              <a:rPr lang="en-IN" dirty="0" err="1"/>
              <a:t>GitHub</a:t>
            </a:r>
            <a:endParaRPr lang="en-IN" dirty="0"/>
          </a:p>
        </p:txBody>
      </p:sp>
      <p:sp>
        <p:nvSpPr>
          <p:cNvPr id="9" name="Title 8">
            <a:extLst>
              <a:ext uri="{FF2B5EF4-FFF2-40B4-BE49-F238E27FC236}">
                <a16:creationId xmlns=""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1" end="1"/>
                                            </p:txEl>
                                          </p:spTgt>
                                        </p:tgtEl>
                                        <p:attrNameLst>
                                          <p:attrName>style.visibility</p:attrName>
                                        </p:attrNameLst>
                                      </p:cBhvr>
                                      <p:to>
                                        <p:strVal val="visible"/>
                                      </p:to>
                                    </p:set>
                                    <p:animEffect transition="in" filter="fade">
                                      <p:cBhvr>
                                        <p:cTn id="21" dur="1000"/>
                                        <p:tgtEl>
                                          <p:spTgt spid="7">
                                            <p:txEl>
                                              <p:pRg st="1" end="1"/>
                                            </p:txEl>
                                          </p:spTgt>
                                        </p:tgtEl>
                                      </p:cBhvr>
                                    </p:animEffect>
                                    <p:anim calcmode="lin" valueType="num">
                                      <p:cBhvr>
                                        <p:cTn id="22"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2" end="2"/>
                                            </p:txEl>
                                          </p:spTgt>
                                        </p:tgtEl>
                                        <p:attrNameLst>
                                          <p:attrName>style.visibility</p:attrName>
                                        </p:attrNameLst>
                                      </p:cBhvr>
                                      <p:to>
                                        <p:strVal val="visible"/>
                                      </p:to>
                                    </p:set>
                                    <p:animEffect transition="in" filter="fade">
                                      <p:cBhvr>
                                        <p:cTn id="28" dur="1000"/>
                                        <p:tgtEl>
                                          <p:spTgt spid="7">
                                            <p:txEl>
                                              <p:pRg st="2" end="2"/>
                                            </p:txEl>
                                          </p:spTgt>
                                        </p:tgtEl>
                                      </p:cBhvr>
                                    </p:animEffect>
                                    <p:anim calcmode="lin" valueType="num">
                                      <p:cBhvr>
                                        <p:cTn id="29"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animEffect transition="in" filter="fade">
                                      <p:cBhvr>
                                        <p:cTn id="35" dur="1000"/>
                                        <p:tgtEl>
                                          <p:spTgt spid="7">
                                            <p:txEl>
                                              <p:pRg st="3" end="3"/>
                                            </p:txEl>
                                          </p:spTgt>
                                        </p:tgtEl>
                                      </p:cBhvr>
                                    </p:animEffect>
                                    <p:anim calcmode="lin" valueType="num">
                                      <p:cBhvr>
                                        <p:cTn id="36"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4" end="4"/>
                                            </p:txEl>
                                          </p:spTgt>
                                        </p:tgtEl>
                                        <p:attrNameLst>
                                          <p:attrName>style.visibility</p:attrName>
                                        </p:attrNameLst>
                                      </p:cBhvr>
                                      <p:to>
                                        <p:strVal val="visible"/>
                                      </p:to>
                                    </p:set>
                                    <p:animEffect transition="in" filter="fade">
                                      <p:cBhvr>
                                        <p:cTn id="42" dur="1000"/>
                                        <p:tgtEl>
                                          <p:spTgt spid="7">
                                            <p:txEl>
                                              <p:pRg st="4" end="4"/>
                                            </p:txEl>
                                          </p:spTgt>
                                        </p:tgtEl>
                                      </p:cBhvr>
                                    </p:animEffect>
                                    <p:anim calcmode="lin" valueType="num">
                                      <p:cBhvr>
                                        <p:cTn id="4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 xmlns:a16="http://schemas.microsoft.com/office/drawing/2014/main" id="{AFE3A2AF-177E-45E6-A191-0F8523DB7FFA}"/>
              </a:ext>
            </a:extLst>
          </p:cNvPr>
          <p:cNvSpPr>
            <a:spLocks noGrp="1"/>
          </p:cNvSpPr>
          <p:nvPr>
            <p:ph type="title"/>
          </p:nvPr>
        </p:nvSpPr>
        <p:spPr>
          <a:xfrm>
            <a:off x="675957" y="370589"/>
            <a:ext cx="2981643" cy="830997"/>
          </a:xfrm>
        </p:spPr>
        <p:txBody>
          <a:bodyPr>
            <a:normAutofit fontScale="90000"/>
          </a:bodyPr>
          <a:lstStyle/>
          <a:p>
            <a:r>
              <a:rPr lang="en-GB" dirty="0"/>
              <a:t>RESULTS </a:t>
            </a:r>
            <a:r>
              <a:rPr lang="en-IN" dirty="0"/>
              <a:t/>
            </a:r>
            <a:br>
              <a:rPr lang="en-IN" dirty="0"/>
            </a:br>
            <a:r>
              <a:rPr lang="en-IN" dirty="0"/>
              <a:t/>
            </a:r>
            <a:br>
              <a:rPr lang="en-IN" dirty="0"/>
            </a:br>
            <a:endParaRPr lang="en-IN" dirty="0"/>
          </a:p>
        </p:txBody>
      </p:sp>
      <p:sp>
        <p:nvSpPr>
          <p:cNvPr id="7" name="Text Placeholder 30">
            <a:extLst>
              <a:ext uri="{FF2B5EF4-FFF2-40B4-BE49-F238E27FC236}">
                <a16:creationId xmlns=""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04234" y="895806"/>
            <a:ext cx="4405693" cy="286677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747519" y="3959232"/>
            <a:ext cx="7545788" cy="2174962"/>
          </a:xfrm>
          <a:prstGeom prst="rect">
            <a:avLst/>
          </a:prstGeom>
        </p:spPr>
      </p:pic>
      <p:pic>
        <p:nvPicPr>
          <p:cNvPr id="11" name="Picture 10"/>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06079" y="1283549"/>
            <a:ext cx="5217004" cy="2091285"/>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 xmlns:a16="http://schemas.microsoft.com/office/drawing/2014/main" id="{3A64DB11-806F-1A4C-E0D5-D745D29CED50}"/>
              </a:ext>
            </a:extLst>
          </p:cNvPr>
          <p:cNvSpPr>
            <a:spLocks noGrp="1"/>
          </p:cNvSpPr>
          <p:nvPr>
            <p:ph type="body" sz="quarter" idx="12"/>
          </p:nvPr>
        </p:nvSpPr>
        <p:spPr>
          <a:xfrm>
            <a:off x="807164" y="1431693"/>
            <a:ext cx="4275138" cy="477520"/>
          </a:xfrm>
        </p:spPr>
        <p:txBody>
          <a:bodyPr/>
          <a:lstStyle/>
          <a:p>
            <a:pPr marL="0" indent="0">
              <a:buNone/>
            </a:pPr>
            <a:endParaRPr lang="en-IN" dirty="0"/>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59722" y="1244245"/>
            <a:ext cx="4322580" cy="2641972"/>
          </a:xfrm>
          <a:prstGeom prst="rect">
            <a:avLst/>
          </a:prstGeom>
        </p:spPr>
      </p:pic>
      <p:pic>
        <p:nvPicPr>
          <p:cNvPr id="3" name="Picture 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22240" y="966007"/>
            <a:ext cx="5453090" cy="3198447"/>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944733" y="4320776"/>
            <a:ext cx="4794636" cy="2146428"/>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nodePh="1">
                                  <p:stCondLst>
                                    <p:cond delay="0"/>
                                  </p:stCondLst>
                                  <p:endCondLst>
                                    <p:cond evt="begin" delay="0">
                                      <p:tn val="26"/>
                                    </p:cond>
                                  </p:end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 xmlns:a16="http://schemas.microsoft.com/office/drawing/2014/main" id="{DFCD5524-F764-DC63-6F54-D48057CF17B7}"/>
              </a:ext>
            </a:extLst>
          </p:cNvPr>
          <p:cNvSpPr>
            <a:spLocks noGrp="1"/>
          </p:cNvSpPr>
          <p:nvPr>
            <p:ph type="title"/>
          </p:nvPr>
        </p:nvSpPr>
        <p:spPr>
          <a:xfrm>
            <a:off x="674197" y="2296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 Placeholder 1"/>
          <p:cNvSpPr>
            <a:spLocks noGrp="1"/>
          </p:cNvSpPr>
          <p:nvPr>
            <p:ph type="body" sz="quarter" idx="12"/>
          </p:nvPr>
        </p:nvSpPr>
        <p:spPr>
          <a:xfrm>
            <a:off x="675957" y="2015234"/>
            <a:ext cx="3601845" cy="2198957"/>
          </a:xfrm>
        </p:spPr>
        <p:txBody>
          <a:bodyPr/>
          <a:lstStyle/>
          <a:p>
            <a:endParaRPr lang="en-US" dirty="0"/>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12157" y="917562"/>
            <a:ext cx="3474692" cy="307696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58475" y="4142528"/>
            <a:ext cx="4233614" cy="2522432"/>
          </a:xfrm>
          <a:prstGeom prst="rect">
            <a:avLst/>
          </a:prstGeom>
        </p:spPr>
      </p:pic>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20982" y="1428398"/>
            <a:ext cx="4634182" cy="2778286"/>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 xmlns:a16="http://schemas.microsoft.com/office/drawing/2014/main" id="{2B7B89A1-9444-8322-CADC-42D31D698FA8}"/>
              </a:ext>
            </a:extLst>
          </p:cNvPr>
          <p:cNvSpPr>
            <a:spLocks noGrp="1"/>
          </p:cNvSpPr>
          <p:nvPr>
            <p:ph type="body" sz="quarter" idx="12"/>
          </p:nvPr>
        </p:nvSpPr>
        <p:spPr>
          <a:xfrm>
            <a:off x="807164" y="1431693"/>
            <a:ext cx="4275138" cy="477520"/>
          </a:xfrm>
        </p:spPr>
        <p:txBody>
          <a:bodyPr/>
          <a:lstStyle/>
          <a:p>
            <a:pPr marL="0" indent="0">
              <a:buNone/>
            </a:pPr>
            <a:endParaRPr lang="en-IN" dirty="0"/>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0587" y="1201586"/>
            <a:ext cx="5580441" cy="2776593"/>
          </a:xfrm>
          <a:prstGeom prst="rect">
            <a:avLst/>
          </a:prstGeom>
        </p:spPr>
      </p:pic>
      <p:pic>
        <p:nvPicPr>
          <p:cNvPr id="3" name="Picture 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677231" y="3731930"/>
            <a:ext cx="5653377" cy="2828381"/>
          </a:xfrm>
          <a:prstGeom prst="rect">
            <a:avLst/>
          </a:prstGeom>
        </p:spPr>
      </p:pic>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nodePh="1">
                                  <p:stCondLst>
                                    <p:cond delay="0"/>
                                  </p:stCondLst>
                                  <p:endCondLst>
                                    <p:cond evt="begin" delay="0">
                                      <p:tn val="26"/>
                                    </p:cond>
                                  </p:end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 xmlns:a16="http://schemas.microsoft.com/office/drawing/2014/main" id="{F85C769B-425A-FE3B-E47A-3B747985DC52}"/>
              </a:ext>
            </a:extLst>
          </p:cNvPr>
          <p:cNvSpPr>
            <a:spLocks noGrp="1"/>
          </p:cNvSpPr>
          <p:nvPr>
            <p:ph type="body" sz="quarter" idx="12"/>
          </p:nvPr>
        </p:nvSpPr>
        <p:spPr>
          <a:xfrm>
            <a:off x="807164" y="1431693"/>
            <a:ext cx="4275138" cy="477520"/>
          </a:xfrm>
        </p:spPr>
        <p:txBody>
          <a:bodyPr/>
          <a:lstStyle/>
          <a:p>
            <a:pPr marL="0" indent="0">
              <a:buNone/>
            </a:pPr>
            <a:endParaRPr lang="en-IN" dirty="0"/>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58629" y="1106406"/>
            <a:ext cx="10460661" cy="2784448"/>
          </a:xfrm>
          <a:prstGeom prst="rect">
            <a:avLst/>
          </a:prstGeom>
        </p:spPr>
      </p:pic>
      <p:pic>
        <p:nvPicPr>
          <p:cNvPr id="3" name="Picture 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8011" y="3987374"/>
            <a:ext cx="10241279" cy="2677586"/>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nodePh="1">
                                  <p:stCondLst>
                                    <p:cond delay="0"/>
                                  </p:stCondLst>
                                  <p:endCondLst>
                                    <p:cond evt="begin" delay="0">
                                      <p:tn val="26"/>
                                    </p:cond>
                                  </p:end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 xmlns:a16="http://schemas.microsoft.com/office/drawing/2014/main" id="{9B097C2C-D75A-31D4-CD9F-366F39CDE51D}"/>
              </a:ext>
            </a:extLst>
          </p:cNvPr>
          <p:cNvSpPr>
            <a:spLocks noGrp="1"/>
          </p:cNvSpPr>
          <p:nvPr>
            <p:ph type="title"/>
          </p:nvPr>
        </p:nvSpPr>
        <p:spPr>
          <a:xfrm>
            <a:off x="675957" y="370589"/>
            <a:ext cx="9056440" cy="830997"/>
          </a:xfrm>
        </p:spPr>
        <p:txBody>
          <a:bodyPr>
            <a:normAutofit fontScale="90000"/>
          </a:bodyPr>
          <a:lstStyle/>
          <a:p>
            <a:pPr>
              <a:lnSpc>
                <a:spcPct val="200000"/>
              </a:lnSpc>
            </a:pPr>
            <a:r>
              <a:rPr lang="en-IN" sz="4000" dirty="0"/>
              <a:t>Future </a:t>
            </a:r>
            <a:r>
              <a:rPr lang="en-IN" sz="4000" dirty="0" smtClean="0"/>
              <a:t>scope</a:t>
            </a:r>
            <a:br>
              <a:rPr lang="en-IN" sz="4000" dirty="0" smtClean="0"/>
            </a:br>
            <a:r>
              <a:rPr lang="en-US" sz="4000" dirty="0">
                <a:latin typeface="Arial Black" panose="020B0A04020102020204" pitchFamily="34" charset="0"/>
              </a:rPr>
              <a:t>​</a:t>
            </a:r>
            <a:r>
              <a:rPr lang="en-US" sz="1800" dirty="0">
                <a:latin typeface="Arial Black" panose="020B0A04020102020204" pitchFamily="34" charset="0"/>
              </a:rPr>
              <a:t>Machine Learning Predictive Modeling: </a:t>
            </a:r>
            <a:r>
              <a:rPr lang="en-US" sz="1800" dirty="0"/>
              <a:t>Implement regression algorithms (Random Forest / XGBoost) to forecast seasonal crop yield based on early weather forecasts.  </a:t>
            </a:r>
            <a:br>
              <a:rPr lang="en-US" sz="1800" dirty="0"/>
            </a:br>
            <a:r>
              <a:rPr lang="en-US" sz="1800" dirty="0"/>
              <a:t>​</a:t>
            </a:r>
            <a:r>
              <a:rPr lang="en-US" sz="1800" dirty="0">
                <a:latin typeface="Arial Black" panose="020B0A04020102020204" pitchFamily="34" charset="0"/>
              </a:rPr>
              <a:t>Optimization Systems: </a:t>
            </a:r>
            <a:r>
              <a:rPr lang="en-US" sz="1800" dirty="0"/>
              <a:t>Build resource allocation algorithms to minimize water consumption during low-rainfall periods.  </a:t>
            </a:r>
            <a:br>
              <a:rPr lang="en-US" sz="1800" dirty="0"/>
            </a:br>
            <a:r>
              <a:rPr lang="en-US" sz="1800" dirty="0"/>
              <a:t>​</a:t>
            </a:r>
            <a:r>
              <a:rPr lang="en-US" sz="1800" dirty="0">
                <a:latin typeface="Arial Black" panose="020B0A04020102020204" pitchFamily="34" charset="0"/>
              </a:rPr>
              <a:t>Geospatial &amp; Dynamic Data Integration: </a:t>
            </a:r>
            <a:r>
              <a:rPr lang="en-US" sz="1800" dirty="0"/>
              <a:t>Incorporate real-time satellite imagery (NDVI indices) and live market price feeds to support dynamic profit predictions.</a:t>
            </a:r>
            <a:endParaRPr lang="en-IN" sz="1800" dirty="0"/>
          </a:p>
        </p:txBody>
      </p:sp>
      <p:sp>
        <p:nvSpPr>
          <p:cNvPr id="7" name="Text Placeholder 30">
            <a:extLst>
              <a:ext uri="{FF2B5EF4-FFF2-40B4-BE49-F238E27FC236}">
                <a16:creationId xmlns=""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 xmlns:a16="http://schemas.microsoft.com/office/drawing/2014/main" id="{AF1C8809-654A-4DD1-BB18-87B8B6C020B9}"/>
              </a:ext>
            </a:extLst>
          </p:cNvPr>
          <p:cNvSpPr txBox="1">
            <a:spLocks/>
          </p:cNvSpPr>
          <p:nvPr/>
        </p:nvSpPr>
        <p:spPr>
          <a:xfrm>
            <a:off x="-67700" y="1349156"/>
            <a:ext cx="10562706"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sz="2000" dirty="0" smtClean="0">
                <a:hlinkClick r:id="rId3"/>
              </a:rPr>
              <a:t>https://github.com/chamakurayamini/Seasonal-Agriculture-Performance-Analysis-1.git</a:t>
            </a:r>
            <a:endParaRPr lang="en-GB" sz="2000" dirty="0"/>
          </a:p>
        </p:txBody>
      </p:sp>
      <p:sp>
        <p:nvSpPr>
          <p:cNvPr id="8" name="Text Placeholder 30">
            <a:extLst>
              <a:ext uri="{FF2B5EF4-FFF2-40B4-BE49-F238E27FC236}">
                <a16:creationId xmlns=""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17143" y="1608410"/>
            <a:ext cx="6858000" cy="4819650"/>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 xmlns:a16="http://schemas.microsoft.com/office/drawing/2014/main" id="{D88C20CF-C1EE-4092-B52D-FD4AB2AB2508}"/>
              </a:ext>
            </a:extLst>
          </p:cNvPr>
          <p:cNvSpPr>
            <a:spLocks noGrp="1"/>
          </p:cNvSpPr>
          <p:nvPr>
            <p:ph type="title"/>
          </p:nvPr>
        </p:nvSpPr>
        <p:spPr>
          <a:xfrm>
            <a:off x="-608942" y="1617759"/>
            <a:ext cx="11340000" cy="700114"/>
          </a:xfrm>
          <a:prstGeom prst="rect">
            <a:avLst/>
          </a:prstGeom>
        </p:spPr>
        <p:txBody>
          <a:bodyPr anchor="ctr">
            <a:noAutofit/>
          </a:bodyPr>
          <a:lstStyle/>
          <a:p>
            <a:pPr algn="ctr"/>
            <a:r>
              <a:rPr lang="en-US" sz="4800" b="1" dirty="0">
                <a:solidFill>
                  <a:schemeClr val="tx1"/>
                </a:solidFill>
              </a:rPr>
              <a:t>Thank you</a:t>
            </a:r>
          </a:p>
        </p:txBody>
      </p:sp>
      <p:sp>
        <p:nvSpPr>
          <p:cNvPr id="31" name="Text Placeholder 30">
            <a:extLst>
              <a:ext uri="{FF2B5EF4-FFF2-40B4-BE49-F238E27FC236}">
                <a16:creationId xmlns=""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 xmlns:a16="http://schemas.microsoft.com/office/drawing/2014/main" id="{BC277FD7-925B-4C3D-A364-118403201507}"/>
              </a:ext>
            </a:extLst>
          </p:cNvPr>
          <p:cNvSpPr>
            <a:spLocks noGrp="1"/>
          </p:cNvSpPr>
          <p:nvPr>
            <p:ph type="body" sz="quarter" idx="12"/>
          </p:nvPr>
        </p:nvSpPr>
        <p:spPr>
          <a:xfrm>
            <a:off x="2975013" y="3962573"/>
            <a:ext cx="2139696" cy="344312"/>
          </a:xfrm>
        </p:spPr>
        <p:txBody>
          <a:bodyPr>
            <a:normAutofit fontScale="92500" lnSpcReduction="20000"/>
          </a:bodyPr>
          <a:lstStyle/>
          <a:p>
            <a:endParaRPr lang="en-IN" dirty="0"/>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DEA9014-ED64-4558-B1E1-D03F0EE32BEB}">
  <ds:schemaRefs>
    <ds:schemaRef ds:uri="http://purl.org/dc/dcmitype/"/>
    <ds:schemaRef ds:uri="http://purl.org/dc/elements/1.1/"/>
    <ds:schemaRef ds:uri="http://schemas.microsoft.com/office/2006/metadata/properties"/>
    <ds:schemaRef ds:uri="http://schemas.microsoft.com/office/2006/documentManagement/types"/>
    <ds:schemaRef ds:uri="http://purl.org/dc/terms/"/>
    <ds:schemaRef ds:uri="http://schemas.openxmlformats.org/package/2006/metadata/core-properties"/>
    <ds:schemaRef ds:uri="16c05727-aa75-4e4a-9b5f-8a80a1165891"/>
    <ds:schemaRef ds:uri="http://schemas.microsoft.com/office/infopath/2007/PartnerControls"/>
    <ds:schemaRef ds:uri="71af3243-3dd4-4a8d-8c0d-dd76da1f02a5"/>
    <ds:schemaRef ds:uri="http://www.w3.org/XML/1998/namespace"/>
  </ds:schemaRefs>
</ds:datastoreItem>
</file>

<file path=customXml/itemProps3.xml><?xml version="1.0" encoding="utf-8"?>
<ds:datastoreItem xmlns:ds="http://schemas.openxmlformats.org/officeDocument/2006/customXml" ds:itemID="{05D99ABA-76CE-4A8E-B5F0-C051B96628D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Facet</Template>
  <TotalTime>1494</TotalTime>
  <Words>236</Words>
  <Application>Microsoft Office PowerPoint</Application>
  <PresentationFormat>Widescreen</PresentationFormat>
  <Paragraphs>30</Paragraphs>
  <Slides>14</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Arial</vt:lpstr>
      <vt:lpstr>Arial Black</vt:lpstr>
      <vt:lpstr>Calibri</vt:lpstr>
      <vt:lpstr>Trebuchet MS</vt:lpstr>
      <vt:lpstr>Wingdings</vt:lpstr>
      <vt:lpstr>Wingdings 3</vt:lpstr>
      <vt:lpstr>Facet</vt:lpstr>
      <vt:lpstr>Seasonal Agriculture Performance Analysis </vt:lpstr>
      <vt:lpstr>PROBLEM  STATEMENT</vt:lpstr>
      <vt:lpstr>Project Description ​Overview: Detailed Exploratory Data Analysis (EDA) of 4,000 agricultural records across multiple Indian states and crop types.   ​Analytical Focus: Evaluates the interaction between environmental metrics (rainfall, temperature, humidity, soil moisture), agricultural inputs (fertilizer, pesticide, seed quality, irrigation), and seasonal outputs (yield, production, market prices, net profit).   ​Methodology: Data cleaning, missing value handling, seasonal grouping, correlation analysis, and data visualization using Python.</vt:lpstr>
      <vt:lpstr>WHO ARE THE END USERS?</vt:lpstr>
      <vt:lpstr>Technology Used</vt:lpstr>
      <vt:lpstr>RESULTS   </vt:lpstr>
      <vt:lpstr>RESULTS </vt:lpstr>
      <vt:lpstr>RESULTS </vt:lpstr>
      <vt:lpstr>RESULTS </vt:lpstr>
      <vt:lpstr>RESULTS </vt:lpstr>
      <vt:lpstr>Future scope ​Machine Learning Predictive Modeling: Implement regression algorithms (Random Forest / XGBoost) to forecast seasonal crop yield based on early weather forecasts.   ​Optimization Systems: Build resource allocation algorithms to minimize water consumption during low-rainfall periods.   ​Geospatial &amp; Dynamic Data Integration: Incorporate real-time satellite imagery (NDVI indices) and live market price feeds to support dynamic profit predictions.</vt:lpstr>
      <vt:lpstr>GitHub Link</vt:lpstr>
      <vt:lpstr>VOIS Course completion certificate -  Course name- Data Visualization </vt:lpstr>
      <vt:lpstr>Thank you</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user</cp:lastModifiedBy>
  <cp:revision>112</cp:revision>
  <dcterms:created xsi:type="dcterms:W3CDTF">2021-07-11T13:13:15Z</dcterms:created>
  <dcterms:modified xsi:type="dcterms:W3CDTF">2026-09-13T07:28:44Z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