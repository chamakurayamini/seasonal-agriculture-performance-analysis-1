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0" d="100"/>
          <a:sy n="80" d="100"/>
        </p:scale>
        <p:origin x="56" y="4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324129" y="4154063"/>
            <a:ext cx="6039071" cy="861497"/>
          </a:xfrm>
        </p:spPr>
        <p:txBody>
          <a:bodyPr vert="horz" lIns="91440" tIns="45720" rIns="91440" bIns="45720" rtlCol="0" anchor="t">
            <a:normAutofit/>
          </a:bodyPr>
          <a:lstStyle/>
          <a:p>
            <a:pPr algn="r"/>
            <a:r>
              <a:rPr lang="en-US" b="0" dirty="0" smtClean="0">
                <a:solidFill>
                  <a:schemeClr val="tx1"/>
                </a:solidFill>
              </a:rPr>
              <a:t>Chamakura Yamini </a:t>
            </a:r>
            <a:endParaRPr lang="en-IN" b="0" dirty="0">
              <a:solidFill>
                <a:schemeClr val="tx1"/>
              </a:solidFill>
            </a:endParaRPr>
          </a:p>
          <a:p>
            <a:pPr algn="r"/>
            <a:r>
              <a:rPr lang="en-US" b="0" dirty="0" smtClean="0">
                <a:solidFill>
                  <a:schemeClr val="tx1"/>
                </a:solidFill>
              </a:rPr>
              <a:t>                                        Ace Engineering College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5903" y="2815753"/>
            <a:ext cx="10297297" cy="743448"/>
          </a:xfrm>
        </p:spPr>
        <p:txBody>
          <a:bodyPr>
            <a:normAutofit/>
          </a:bodyPr>
          <a:lstStyle/>
          <a:p>
            <a:r>
              <a:rPr lang="en-IN" sz="3200" b="1" dirty="0" smtClean="0"/>
              <a:t>Seasonal </a:t>
            </a:r>
            <a:r>
              <a:rPr lang="en-IN" sz="3200" b="1" dirty="0"/>
              <a:t>Agriculture Performance Analysis </a:t>
            </a: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6334898" y="5144793"/>
            <a:ext cx="5239572" cy="369332"/>
          </a:xfrm>
          <a:prstGeom prst="rect">
            <a:avLst/>
          </a:prstGeom>
          <a:noFill/>
        </p:spPr>
        <p:txBody>
          <a:bodyPr wrap="square" rtlCol="0">
            <a:spAutoFit/>
          </a:bodyPr>
          <a:lstStyle/>
          <a:p>
            <a:r>
              <a:rPr lang="en-US" b="1" dirty="0"/>
              <a:t>AICTE STU ID : </a:t>
            </a:r>
            <a:r>
              <a:rPr lang="en-US" b="1" dirty="0" smtClean="0"/>
              <a:t>STU6a6a06382be941785333304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565190"/>
            <a:ext cx="6431280" cy="4563762"/>
          </a:xfrm>
        </p:spPr>
        <p:txBody>
          <a:bodyPr vert="horz" lIns="91440" tIns="45720" rIns="91440" bIns="45720" rtlCol="0" anchor="t">
            <a:normAutofit/>
          </a:bodyPr>
          <a:lstStyle/>
          <a:p>
            <a:pPr>
              <a:lnSpc>
                <a:spcPct val="150000"/>
              </a:lnSpc>
            </a:pPr>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6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pPr>
              <a:lnSpc>
                <a:spcPct val="200000"/>
              </a:lnSpc>
            </a:pPr>
            <a:r>
              <a:rPr lang="en-GB" sz="3600" dirty="0"/>
              <a:t>Project Description</a:t>
            </a:r>
            <a:br>
              <a:rPr lang="en-GB" sz="3600" dirty="0"/>
            </a:br>
            <a:r>
              <a:rPr lang="en-GB" sz="3600" dirty="0"/>
              <a:t>​</a:t>
            </a:r>
            <a:r>
              <a:rPr lang="en-GB" sz="1600" dirty="0">
                <a:latin typeface="Arial Black" panose="020B0A04020102020204" pitchFamily="34" charset="0"/>
              </a:rPr>
              <a:t>Overview:</a:t>
            </a:r>
            <a:r>
              <a:rPr lang="en-GB" sz="1600" dirty="0"/>
              <a:t> Detailed Exploratory Data Analysis (EDA) of 4,000 agricultural records across multiple Indian states and crop types.  </a:t>
            </a:r>
            <a:br>
              <a:rPr lang="en-GB" sz="1600" dirty="0"/>
            </a:br>
            <a:r>
              <a:rPr lang="en-GB" sz="1600" dirty="0">
                <a:latin typeface="Arial Black" panose="020B0A04020102020204" pitchFamily="34" charset="0"/>
              </a:rPr>
              <a:t>​Analytical Focus: </a:t>
            </a:r>
            <a:r>
              <a:rPr lang="en-GB" sz="1600" dirty="0"/>
              <a:t>Evaluates the interaction between environmental metrics (rainfall, temperature, humidity, soil moisture), agricultural inputs (fertilizer, pesticide, seed quality, irrigation), and seasonal outputs (yield, production, market prices, net profit).  </a:t>
            </a:r>
            <a:br>
              <a:rPr lang="en-GB" sz="1600" dirty="0"/>
            </a:br>
            <a:r>
              <a:rPr lang="en-GB" sz="1600" dirty="0"/>
              <a:t>​</a:t>
            </a:r>
            <a:r>
              <a:rPr lang="en-GB" sz="1600" dirty="0">
                <a:latin typeface="Arial Black" panose="020B0A04020102020204" pitchFamily="34" charset="0"/>
              </a:rPr>
              <a:t>Methodology: </a:t>
            </a:r>
            <a:r>
              <a:rPr lang="en-GB" sz="1600" dirty="0"/>
              <a:t>Data cleaning, missing value handling, seasonal grouping, correlation analysis, and data visualization using Python.</a:t>
            </a:r>
            <a:endParaRPr lang="en-IN" sz="80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marL="0" indent="0" algn="just">
              <a:lnSpc>
                <a:spcPct val="220000"/>
              </a:lnSpc>
              <a:buNone/>
            </a:pPr>
            <a:r>
              <a:rPr lang="en-US" sz="3600" dirty="0">
                <a:latin typeface="Arial Black" panose="020B0A04020102020204" pitchFamily="34" charset="0"/>
              </a:rPr>
              <a:t>Agricultural Policy Makers: </a:t>
            </a:r>
            <a:r>
              <a:rPr lang="en-US" sz="3600" dirty="0"/>
              <a:t>To design targeted seasonal subsidy programs and optimize regional water management schemes.  </a:t>
            </a:r>
          </a:p>
          <a:p>
            <a:pPr marL="0" indent="0" algn="just">
              <a:lnSpc>
                <a:spcPct val="220000"/>
              </a:lnSpc>
              <a:buNone/>
            </a:pPr>
            <a:r>
              <a:rPr lang="en-US" sz="3600" dirty="0"/>
              <a:t>​</a:t>
            </a:r>
            <a:r>
              <a:rPr lang="en-US" sz="3600" dirty="0">
                <a:latin typeface="Arial Black" panose="020B0A04020102020204" pitchFamily="34" charset="0"/>
              </a:rPr>
              <a:t>Farm Management Consultants &amp; Agronomists: </a:t>
            </a:r>
            <a:r>
              <a:rPr lang="en-US" sz="3600" dirty="0"/>
              <a:t>To advise farmers on high-yield crop selection and resource allocation per season.  </a:t>
            </a:r>
          </a:p>
          <a:p>
            <a:pPr marL="0" indent="0" algn="just">
              <a:lnSpc>
                <a:spcPct val="220000"/>
              </a:lnSpc>
              <a:buNone/>
            </a:pPr>
            <a:r>
              <a:rPr lang="en-US" sz="3600" dirty="0">
                <a:latin typeface="Arial Black" panose="020B0A04020102020204" pitchFamily="34" charset="0"/>
              </a:rPr>
              <a:t>​Agricultural Lenders &amp; Insurance Providers: </a:t>
            </a:r>
            <a:r>
              <a:rPr lang="en-US" sz="3600" dirty="0"/>
              <a:t>To evaluate seasonal financial risk profiles and pest risk variations for credit underwriting.</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​Programming Language: Python 3.x  </a:t>
            </a:r>
          </a:p>
          <a:p>
            <a:pPr lvl="1">
              <a:lnSpc>
                <a:spcPct val="150000"/>
              </a:lnSpc>
            </a:pPr>
            <a:r>
              <a:rPr lang="en-IN" dirty="0"/>
              <a:t>​Data Manipulation &amp; Analysis: Pandas, NumPy  </a:t>
            </a:r>
          </a:p>
          <a:p>
            <a:pPr lvl="1">
              <a:lnSpc>
                <a:spcPct val="150000"/>
              </a:lnSpc>
            </a:pPr>
            <a:r>
              <a:rPr lang="en-IN" dirty="0"/>
              <a:t>​Data Visualization: Matplotlib, Seaborn  </a:t>
            </a:r>
          </a:p>
          <a:p>
            <a:pPr lvl="1">
              <a:lnSpc>
                <a:spcPct val="150000"/>
              </a:lnSpc>
            </a:pPr>
            <a:r>
              <a:rPr lang="en-IN" dirty="0"/>
              <a:t>​Development Environment: Jupyter Notebook / Google Colab  </a:t>
            </a:r>
          </a:p>
          <a:p>
            <a:pPr lvl="1">
              <a:lnSpc>
                <a:spcPct val="150000"/>
              </a:lnSpc>
            </a:pPr>
            <a:r>
              <a:rPr lang="en-IN" dirty="0"/>
              <a:t>​Version Control: Git &amp; </a:t>
            </a:r>
            <a:r>
              <a:rPr lang="en-IN" dirty="0" err="1"/>
              <a:t>GitHub</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RESULTS </a:t>
            </a:r>
            <a:r>
              <a:rPr lang="en-IN" dirty="0"/>
              <a:t/>
            </a:r>
            <a:br>
              <a:rPr lang="en-IN" dirty="0"/>
            </a:br>
            <a:r>
              <a:rPr lang="en-IN" dirty="0"/>
              <a:t/>
            </a:r>
            <a:br>
              <a:rPr lang="en-IN" dirty="0"/>
            </a:b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234" y="895806"/>
            <a:ext cx="4405693" cy="286677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7519" y="3959232"/>
            <a:ext cx="7545788" cy="2174962"/>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079" y="1283549"/>
            <a:ext cx="5217004" cy="209128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722" y="1244245"/>
            <a:ext cx="4322580" cy="264197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2240" y="966007"/>
            <a:ext cx="5453090" cy="3198447"/>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4733" y="4320776"/>
            <a:ext cx="4794636" cy="214642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4197" y="2296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675957" y="2015234"/>
            <a:ext cx="3601845" cy="2198957"/>
          </a:xfrm>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2157" y="917562"/>
            <a:ext cx="3474692" cy="307696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8475" y="4142528"/>
            <a:ext cx="4233614" cy="2522432"/>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982" y="1428398"/>
            <a:ext cx="4634182" cy="27782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587" y="1201586"/>
            <a:ext cx="5580441" cy="277659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7231" y="3731930"/>
            <a:ext cx="5653377" cy="282838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629" y="1106406"/>
            <a:ext cx="10460661" cy="2784448"/>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11" y="3987374"/>
            <a:ext cx="10241279" cy="267758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9056440" cy="830997"/>
          </a:xfrm>
        </p:spPr>
        <p:txBody>
          <a:bodyPr>
            <a:normAutofit fontScale="90000"/>
          </a:bodyPr>
          <a:lstStyle/>
          <a:p>
            <a:pPr>
              <a:lnSpc>
                <a:spcPct val="200000"/>
              </a:lnSpc>
            </a:pPr>
            <a:r>
              <a:rPr lang="en-IN" sz="4000" dirty="0"/>
              <a:t>Future </a:t>
            </a:r>
            <a:r>
              <a:rPr lang="en-IN" sz="4000" dirty="0" smtClean="0"/>
              <a:t>scope</a:t>
            </a:r>
            <a:br>
              <a:rPr lang="en-IN" sz="4000" dirty="0" smtClean="0"/>
            </a:br>
            <a:r>
              <a:rPr lang="en-US" sz="4000" dirty="0">
                <a:latin typeface="Arial Black" panose="020B0A04020102020204" pitchFamily="34" charset="0"/>
              </a:rPr>
              <a:t>​</a:t>
            </a:r>
            <a:r>
              <a:rPr lang="en-US" sz="1800" dirty="0">
                <a:latin typeface="Arial Black" panose="020B0A04020102020204" pitchFamily="34" charset="0"/>
              </a:rPr>
              <a:t>Machine Learning Predictive Modeling: </a:t>
            </a:r>
            <a:r>
              <a:rPr lang="en-US" sz="1800" dirty="0"/>
              <a:t>Implement regression algorithms (Random Forest / XGBoost) to forecast seasonal crop yield based on early weather forecasts.  </a:t>
            </a:r>
            <a:br>
              <a:rPr lang="en-US" sz="1800" dirty="0"/>
            </a:br>
            <a:r>
              <a:rPr lang="en-US" sz="1800" dirty="0"/>
              <a:t>​</a:t>
            </a:r>
            <a:r>
              <a:rPr lang="en-US" sz="1800" dirty="0">
                <a:latin typeface="Arial Black" panose="020B0A04020102020204" pitchFamily="34" charset="0"/>
              </a:rPr>
              <a:t>Optimization Systems: </a:t>
            </a:r>
            <a:r>
              <a:rPr lang="en-US" sz="1800" dirty="0"/>
              <a:t>Build resource allocation algorithms to minimize water consumption during low-rainfall periods.  </a:t>
            </a:r>
            <a:br>
              <a:rPr lang="en-US" sz="1800" dirty="0"/>
            </a:br>
            <a:r>
              <a:rPr lang="en-US" sz="1800" dirty="0"/>
              <a:t>​</a:t>
            </a:r>
            <a:r>
              <a:rPr lang="en-US" sz="1800" dirty="0">
                <a:latin typeface="Arial Black" panose="020B0A04020102020204" pitchFamily="34" charset="0"/>
              </a:rPr>
              <a:t>Geospatial &amp; Dynamic Data Integration: </a:t>
            </a:r>
            <a:r>
              <a:rPr lang="en-US" sz="1800" dirty="0"/>
              <a:t>Incorporate real-time satellite imagery (NDVI indices) and live market price feeds to support dynamic profit predictions.</a:t>
            </a:r>
            <a:endParaRPr lang="en-IN" sz="1800" dirty="0"/>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143" y="1608410"/>
            <a:ext cx="6858000" cy="481965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608942" y="1617759"/>
            <a:ext cx="11340000" cy="700114"/>
          </a:xfrm>
          <a:prstGeom prst="rect">
            <a:avLst/>
          </a:prstGeom>
        </p:spPr>
        <p:txBody>
          <a:bodyPr anchor="ctr">
            <a:no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purl.org/dc/dcmitype/"/>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schemas.microsoft.com/office/infopath/2007/PartnerControls"/>
    <ds:schemaRef ds:uri="71af3243-3dd4-4a8d-8c0d-dd76da1f02a5"/>
    <ds:schemaRef ds:uri="http://www.w3.org/XML/1998/namespace"/>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1430</TotalTime>
  <Words>233</Words>
  <Application>Microsoft Office PowerPoint</Application>
  <PresentationFormat>Widescreen</PresentationFormat>
  <Paragraphs>29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Calibri</vt:lpstr>
      <vt:lpstr>Trebuchet MS</vt:lpstr>
      <vt:lpstr>Wingdings</vt:lpstr>
      <vt:lpstr>Wingdings 3</vt:lpstr>
      <vt:lpstr>Facet</vt:lpstr>
      <vt:lpstr>Seasonal Agriculture Performance Analysis </vt:lpstr>
      <vt:lpstr>PROBLEM  STATEMENT</vt:lpstr>
      <vt:lpstr>Project Description ​Overview: Detailed Exploratory Data Analysis (EDA) of 4,000 agricultural records across multiple Indian states and crop types.   ​Analytical Focus: Evaluates the interaction between environmental metrics (rainfall, temperature, humidity, soil moisture), agricultural inputs (fertilizer, pesticide, seed quality, irrigation), and seasonal outputs (yield, production, market prices, net profit).   ​Methodology: Data cleaning, missing value handling, seasonal grouping, correlation analysis, and data visualization using Python.</vt:lpstr>
      <vt:lpstr>WHO ARE THE END USERS?</vt:lpstr>
      <vt:lpstr>Technology Used</vt:lpstr>
      <vt:lpstr>RESULTS   </vt:lpstr>
      <vt:lpstr>RESULTS </vt:lpstr>
      <vt:lpstr>RESULTS </vt:lpstr>
      <vt:lpstr>RESULTS </vt:lpstr>
      <vt:lpstr>RESULTS </vt:lpstr>
      <vt:lpstr>Future scope ​Machine Learning Predictive Modeling: Implement regression algorithms (Random Forest / XGBoost) to forecast seasonal crop yield based on early weather forecasts.   ​Optimization Systems: Build resource allocation algorithms to minimize water consumption during low-rainfall periods.   ​Geospatial &amp; Dynamic Data Integration: Incorporate real-time satellite imagery (NDVI indices) and live market price feeds to support dynamic profit predictions.</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108</cp:revision>
  <dcterms:created xsi:type="dcterms:W3CDTF">2021-07-11T13:13:15Z</dcterms:created>
  <dcterms:modified xsi:type="dcterms:W3CDTF">2026-09-13T06:07:31Z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